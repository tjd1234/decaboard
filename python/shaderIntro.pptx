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7F9681A8-EEE2-56F4-9B39-ECCBEE0471AC}"/>
    <pc:docChg chg="custSel modSld">
      <pc:chgData name="Toby Donaldson" userId="2e6e5431-bb17-4c41-9985-d39c50d83c73" providerId="ADAL" clId="{7F9681A8-EEE2-56F4-9B39-ECCBEE0471AC}" dt="2025-11-28T23:59:45.395" v="1382" actId="20577"/>
      <pc:docMkLst>
        <pc:docMk/>
      </pc:docMkLst>
      <pc:sldChg chg="modNotesTx">
        <pc:chgData name="Toby Donaldson" userId="2e6e5431-bb17-4c41-9985-d39c50d83c73" providerId="ADAL" clId="{7F9681A8-EEE2-56F4-9B39-ECCBEE0471AC}" dt="2025-11-28T23:59:45.395" v="1382" actId="20577"/>
        <pc:sldMkLst>
          <pc:docMk/>
          <pc:sldMk cId="2918905115" sldId="257"/>
        </pc:sldMkLst>
      </pc:sldChg>
      <pc:sldChg chg="modNotesTx">
        <pc:chgData name="Toby Donaldson" userId="2e6e5431-bb17-4c41-9985-d39c50d83c73" providerId="ADAL" clId="{7F9681A8-EEE2-56F4-9B39-ECCBEE0471AC}" dt="2025-11-28T23:55:58.875" v="832" actId="20577"/>
        <pc:sldMkLst>
          <pc:docMk/>
          <pc:sldMk cId="782237697" sldId="258"/>
        </pc:sldMkLst>
      </pc:sldChg>
      <pc:sldChg chg="modSp mod">
        <pc:chgData name="Toby Donaldson" userId="2e6e5431-bb17-4c41-9985-d39c50d83c73" providerId="ADAL" clId="{7F9681A8-EEE2-56F4-9B39-ECCBEE0471AC}" dt="2025-11-28T23:57:11.570" v="874" actId="20577"/>
        <pc:sldMkLst>
          <pc:docMk/>
          <pc:sldMk cId="1993718180" sldId="261"/>
        </pc:sldMkLst>
        <pc:spChg chg="mod">
          <ac:chgData name="Toby Donaldson" userId="2e6e5431-bb17-4c41-9985-d39c50d83c73" providerId="ADAL" clId="{7F9681A8-EEE2-56F4-9B39-ECCBEE0471AC}" dt="2025-11-28T23:57:11.570" v="874" actId="20577"/>
          <ac:spMkLst>
            <pc:docMk/>
            <pc:sldMk cId="1993718180" sldId="261"/>
            <ac:spMk id="6" creationId="{598F9C9B-232A-299D-5121-0C35CA2C74CA}"/>
          </ac:spMkLst>
        </pc:spChg>
      </pc:sldChg>
      <pc:sldChg chg="modNotesTx">
        <pc:chgData name="Toby Donaldson" userId="2e6e5431-bb17-4c41-9985-d39c50d83c73" providerId="ADAL" clId="{7F9681A8-EEE2-56F4-9B39-ECCBEE0471AC}" dt="2025-11-28T23:58:36.629" v="1225" actId="20577"/>
        <pc:sldMkLst>
          <pc:docMk/>
          <pc:sldMk cId="2148397020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25B698-1438-5A4E-A02E-B7A020DE835D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BD15E9-82F0-9743-93C0-DD9D8C59D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03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computer graphics a common task is to take a picture, like on the left, and ”smooth” it to look like the thing on the right. For a 3D sphere, these calculations would typically involve calculating the color based on the angle that light </a:t>
            </a:r>
            <a:r>
              <a:rPr lang="en-US"/>
              <a:t>hits a </a:t>
            </a:r>
            <a:r>
              <a:rPr lang="en-US" dirty="0"/>
              <a:t>pixel.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D15E9-82F0-9743-93C0-DD9D8C59DE2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662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example, a special effect has been applied to the left image, giving the image on the right. Again, this is done by doing calculations at each pixel of the picture. For a 500 x 500 image that’s 250,000 sets of calculations! A regular computer CPU can have trouble doing this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D15E9-82F0-9743-93C0-DD9D8C59DE2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666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 example of a program written in a shader language. This program is run at the same time one very pixel of an image, and results in the image shown. Despite being limited as compared to a regular CPU, there are tricks to make all kinds of images and animations.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D15E9-82F0-9743-93C0-DD9D8C59DE2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58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06B09-53A9-3F34-F0A7-9AFCC65DBB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EFF644-2798-7B0D-DA99-3E93BAAFE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7A11A-FE9B-CC76-C1A4-3192C75C9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203B7-93C7-C3F5-A467-06D5553D7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52FB3-8786-4A11-74AC-E15C53385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935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7E1EC-C505-1F93-05D1-1231049F4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FBF54-9C63-9CD7-1E65-1381A8E60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7885F-2A03-3DE2-9A4E-4C89F64FF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54F9A-C21D-62A8-3465-95080E8BA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FACB3-B02B-FBFF-81F3-751EE1FBA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294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001F9-9088-B103-5E7C-4FE16C355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AF0A8-F11D-DBDB-F91D-182A5C5E8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4B094-FECE-4077-7AFE-458084E2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7E735-2320-DE26-6CC2-3032E61F0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B41B1-59CC-5282-9927-D7FF21A1D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51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03A87-0877-A334-D513-620B71B8F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55487-2A22-443B-046A-58EB1F96A3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7694B-99B0-A50B-F42F-B74F20D7C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51EAC4-1877-8417-E3C0-5B81DDCBD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DAD0C-B9BC-5F73-434F-24A71B7F1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8E073-2DC6-6B7F-1286-EFF8ADE4B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870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E88F2-5600-CDAB-4080-99964404D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D9165-846C-7CFD-96B8-CD5C91976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2CC817-6F90-8B9E-7309-8365F7AC5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D3E1-9920-DB59-40BC-D81E06EB31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391358-4F9D-8D4C-0307-30300F8392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48ABD9-A05B-CE2F-E30E-BD90AAAA9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5EC23E-DB6E-EDDD-72CB-179B4468D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8050BA-4188-E781-A988-ADCCBFBC5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35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1768A-3CAD-FB93-C1B2-28B070304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843C09-DF15-24E3-B6B3-279991B33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1956F0-F38D-B13C-A6BA-6F9DBEA6C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F44F4-F549-3345-CB14-716CB6FF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962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C3DC4E-095F-E3E9-2E01-77138A5C5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1CFE99-38C0-E965-0411-C8C490C97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A0718-4278-5E7D-1533-D2321D9C9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27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35EE6-56E8-8B50-C97C-7C6040A9D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858D1-F1CC-132D-3CF9-5C50F4F87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9FC41E-A03E-2B3C-8124-CFB96F1EB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7675C4-5BFC-D4ED-96F8-998FEC65E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7D1EC2-7C9C-07AE-9A83-B0F438887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F52B9-E097-BBEF-BCE8-C100025C5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280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4801B-7E3A-82C1-8703-F50D70E57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AE0D5-46DD-2F77-5566-701AEFAEFA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94620E-F7C4-6DBC-4707-B9EC765F3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FD606B-F082-539D-7FB1-20FBB2734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24F67E-C70F-1C06-E570-44FF9A6D5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640382-EBE6-9561-74A9-7D487B022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460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EE7BD-FCFD-A092-9FFE-6D7DEB7B6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CE9A06-9CCB-3BCC-7B6A-C7E7B3414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90403-34B1-7AA9-DE08-540533E63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2E5BE-950F-8A49-BD40-3F79EC2CF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90F40-57E4-EBDA-9CAC-5C2F81216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070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FC32DF-BD21-E64C-3F78-FACD619785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4D2197-351E-8ADE-CF61-C7B1110725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1765A-893D-CCA3-3432-F2E4D756D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0FE84-32FC-3B39-D38E-30CBAD76D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304CF-4CDE-ABD7-5AE8-4AC91C551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717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4F66EE-6E2D-32E8-7332-AE3ABC5A4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3983F5-49FD-7F4C-484B-A3B816554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5781B-065A-70CC-5316-C25465585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BE2683-176A-8347-B828-AB3139E6C601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65033-92E1-D00F-4436-150257400D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E348D-7883-EDE4-1AF3-A037A04BF1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898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77FE4-E4BB-C4EE-C3B2-68E122776F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Shaders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0F3AFC-3EA8-9529-3538-029FD773F8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Introduction</a:t>
            </a:r>
          </a:p>
        </p:txBody>
      </p:sp>
    </p:spTree>
    <p:extLst>
      <p:ext uri="{BB962C8B-B14F-4D97-AF65-F5344CB8AC3E}">
        <p14:creationId xmlns:p14="http://schemas.microsoft.com/office/powerpoint/2010/main" val="27877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AFD8503F-34BE-8CC0-6737-CD639A7E0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00" y="915224"/>
            <a:ext cx="11929200" cy="451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8905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0133B-13A4-F8C6-2435-FBE5662EE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undefined">
            <a:extLst>
              <a:ext uri="{FF2B5EF4-FFF2-40B4-BE49-F238E27FC236}">
                <a16:creationId xmlns:a16="http://schemas.microsoft.com/office/drawing/2014/main" id="{261D8EF2-D8FC-B754-62AA-49894EC63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72" y="783771"/>
            <a:ext cx="11843656" cy="4441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2237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D2C50-6B54-C6CD-B20B-ADF888F52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3665D1-6D0D-2AC6-72B5-BBF8864A6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CPUs Compared to GPUs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98036E-1464-F79C-0EA5-1A39D6991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CPU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897918-1621-427B-9A72-CAB86FD7FFC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Can do everything</a:t>
            </a:r>
          </a:p>
          <a:p>
            <a:r>
              <a:rPr lang="en-US" dirty="0"/>
              <a:t>Expensive</a:t>
            </a:r>
          </a:p>
          <a:p>
            <a:r>
              <a:rPr lang="en-US" dirty="0"/>
              <a:t>~10 cores that can run in parallel</a:t>
            </a:r>
          </a:p>
          <a:p>
            <a:r>
              <a:rPr lang="en-US" dirty="0"/>
              <a:t>Can do graphics, but too slow for real time (e.g. for games)</a:t>
            </a:r>
          </a:p>
        </p:txBody>
      </p:sp>
      <p:pic>
        <p:nvPicPr>
          <p:cNvPr id="9" name="Picture 2" descr="The architecture of M3, M3 Pro, and M3 Max.">
            <a:extLst>
              <a:ext uri="{FF2B5EF4-FFF2-40B4-BE49-F238E27FC236}">
                <a16:creationId xmlns:a16="http://schemas.microsoft.com/office/drawing/2014/main" id="{3E8ECC26-5D76-C133-3B1D-22A48EC7FF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01" t="11584" r="3474" b="9727"/>
          <a:stretch/>
        </p:blipFill>
        <p:spPr bwMode="auto">
          <a:xfrm>
            <a:off x="7000343" y="1098859"/>
            <a:ext cx="4916385" cy="5394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873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FE416-2B9D-EAE5-29FE-80DBC6B59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50FF4C-1E35-FD3C-C724-1533D889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CPUs Compared to GPUs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2BF52-7D79-F21B-BCF1-B9DABA184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Graphics CPU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8F9C9B-232A-299D-5121-0C35CA2C74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Can only do operations specific to graphics, e.g. basic math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Programmed using special languages limited to their operations</a:t>
            </a:r>
          </a:p>
          <a:p>
            <a:r>
              <a:rPr lang="en-US" dirty="0"/>
              <a:t>1000s of “little” CPUs, or “cores”, that run in parallel (at the same time)</a:t>
            </a:r>
          </a:p>
          <a:p>
            <a:pPr lvl="1"/>
            <a:r>
              <a:rPr lang="en-US" dirty="0"/>
              <a:t>RTX 4090 has over 16,000 cores</a:t>
            </a:r>
          </a:p>
          <a:p>
            <a:r>
              <a:rPr lang="en-US" dirty="0"/>
              <a:t>Fast enough to do real time graphics: 1 core per pixel</a:t>
            </a:r>
          </a:p>
          <a:p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BB595C4-A1B3-79AF-2C9A-5764240C24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9" t="11035" r="16331" b="35238"/>
          <a:stretch/>
        </p:blipFill>
        <p:spPr bwMode="auto">
          <a:xfrm rot="5400000">
            <a:off x="6320919" y="1960868"/>
            <a:ext cx="6633916" cy="293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3718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8909EC-EDAD-54F1-809D-5EA495E163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873" t="22846" r="47925" b="57090"/>
          <a:stretch/>
        </p:blipFill>
        <p:spPr>
          <a:xfrm rot="5400000">
            <a:off x="6973210" y="1574535"/>
            <a:ext cx="6792254" cy="36453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16D318-0B7D-F139-BC30-433D0CF4D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35" y="289484"/>
            <a:ext cx="7772400" cy="621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397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280</Words>
  <Application>Microsoft Macintosh PowerPoint</Application>
  <PresentationFormat>Widescreen</PresentationFormat>
  <Paragraphs>21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Shaders</vt:lpstr>
      <vt:lpstr>PowerPoint Presentation</vt:lpstr>
      <vt:lpstr>PowerPoint Presentation</vt:lpstr>
      <vt:lpstr>CPUs Compared to GPUs</vt:lpstr>
      <vt:lpstr>CPUs Compared to GPUs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2025-02-21T19:24:30Z</dcterms:created>
  <dcterms:modified xsi:type="dcterms:W3CDTF">2025-11-28T23:59:49Z</dcterms:modified>
</cp:coreProperties>
</file>