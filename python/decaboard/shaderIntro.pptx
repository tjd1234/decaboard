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8" r:id="rId3"/>
    <p:sldId id="257"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y Donaldson" userId="2e6e5431-bb17-4c41-9985-d39c50d83c73" providerId="ADAL" clId="{7F9681A8-EEE2-56F4-9B39-ECCBEE0471AC}"/>
    <pc:docChg chg="undo custSel modSld sldOrd">
      <pc:chgData name="Toby Donaldson" userId="2e6e5431-bb17-4c41-9985-d39c50d83c73" providerId="ADAL" clId="{7F9681A8-EEE2-56F4-9B39-ECCBEE0471AC}" dt="2025-12-03T04:41:38.831" v="2069" actId="20578"/>
      <pc:docMkLst>
        <pc:docMk/>
      </pc:docMkLst>
      <pc:sldChg chg="modNotesTx">
        <pc:chgData name="Toby Donaldson" userId="2e6e5431-bb17-4c41-9985-d39c50d83c73" providerId="ADAL" clId="{7F9681A8-EEE2-56F4-9B39-ECCBEE0471AC}" dt="2025-12-03T04:37:43.810" v="1729" actId="20577"/>
        <pc:sldMkLst>
          <pc:docMk/>
          <pc:sldMk cId="2918905115" sldId="257"/>
        </pc:sldMkLst>
      </pc:sldChg>
      <pc:sldChg chg="ord modNotesTx">
        <pc:chgData name="Toby Donaldson" userId="2e6e5431-bb17-4c41-9985-d39c50d83c73" providerId="ADAL" clId="{7F9681A8-EEE2-56F4-9B39-ECCBEE0471AC}" dt="2025-12-03T04:41:38.831" v="2069" actId="20578"/>
        <pc:sldMkLst>
          <pc:docMk/>
          <pc:sldMk cId="782237697" sldId="258"/>
        </pc:sldMkLst>
      </pc:sldChg>
      <pc:sldChg chg="modSp mod">
        <pc:chgData name="Toby Donaldson" userId="2e6e5431-bb17-4c41-9985-d39c50d83c73" providerId="ADAL" clId="{7F9681A8-EEE2-56F4-9B39-ECCBEE0471AC}" dt="2025-12-03T04:39:54.236" v="2019" actId="20577"/>
        <pc:sldMkLst>
          <pc:docMk/>
          <pc:sldMk cId="3857873483" sldId="260"/>
        </pc:sldMkLst>
        <pc:spChg chg="mod">
          <ac:chgData name="Toby Donaldson" userId="2e6e5431-bb17-4c41-9985-d39c50d83c73" providerId="ADAL" clId="{7F9681A8-EEE2-56F4-9B39-ECCBEE0471AC}" dt="2025-12-03T04:39:54.236" v="2019" actId="20577"/>
          <ac:spMkLst>
            <pc:docMk/>
            <pc:sldMk cId="3857873483" sldId="260"/>
            <ac:spMk id="6" creationId="{9E897918-1621-427B-9A72-CAB86FD7FFC1}"/>
          </ac:spMkLst>
        </pc:spChg>
      </pc:sldChg>
      <pc:sldChg chg="modSp mod">
        <pc:chgData name="Toby Donaldson" userId="2e6e5431-bb17-4c41-9985-d39c50d83c73" providerId="ADAL" clId="{7F9681A8-EEE2-56F4-9B39-ECCBEE0471AC}" dt="2025-12-03T04:40:53.169" v="2068" actId="20577"/>
        <pc:sldMkLst>
          <pc:docMk/>
          <pc:sldMk cId="1993718180" sldId="261"/>
        </pc:sldMkLst>
        <pc:spChg chg="mod">
          <ac:chgData name="Toby Donaldson" userId="2e6e5431-bb17-4c41-9985-d39c50d83c73" providerId="ADAL" clId="{7F9681A8-EEE2-56F4-9B39-ECCBEE0471AC}" dt="2025-12-03T04:40:53.169" v="2068" actId="20577"/>
          <ac:spMkLst>
            <pc:docMk/>
            <pc:sldMk cId="1993718180" sldId="261"/>
            <ac:spMk id="6" creationId="{598F9C9B-232A-299D-5121-0C35CA2C74CA}"/>
          </ac:spMkLst>
        </pc:spChg>
      </pc:sldChg>
      <pc:sldChg chg="modNotesTx">
        <pc:chgData name="Toby Donaldson" userId="2e6e5431-bb17-4c41-9985-d39c50d83c73" providerId="ADAL" clId="{7F9681A8-EEE2-56F4-9B39-ECCBEE0471AC}" dt="2025-11-28T23:58:36.629" v="1225" actId="20577"/>
        <pc:sldMkLst>
          <pc:docMk/>
          <pc:sldMk cId="2148397020"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25B698-1438-5A4E-A02E-B7A020DE835D}"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BD15E9-82F0-9743-93C0-DD9D8C59DE23}" type="slidenum">
              <a:rPr lang="en-US" smtClean="0"/>
              <a:t>‹#›</a:t>
            </a:fld>
            <a:endParaRPr lang="en-US"/>
          </a:p>
        </p:txBody>
      </p:sp>
    </p:spTree>
    <p:extLst>
      <p:ext uri="{BB962C8B-B14F-4D97-AF65-F5344CB8AC3E}">
        <p14:creationId xmlns:p14="http://schemas.microsoft.com/office/powerpoint/2010/main" val="4223030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a special effect has been applied to the left image, giving the image on the right. Again, this is done by doing calculations at each pixel of the picture. For a 500 x 500 image that’s 250,000 sets of calculations. As long as the calculations are relatively short and simple most modern CPUs can do this. But more sophisticated operations can require so many calculations that regular CPUs can’t do them in real time.</a:t>
            </a:r>
          </a:p>
        </p:txBody>
      </p:sp>
      <p:sp>
        <p:nvSpPr>
          <p:cNvPr id="4" name="Slide Number Placeholder 3"/>
          <p:cNvSpPr>
            <a:spLocks noGrp="1"/>
          </p:cNvSpPr>
          <p:nvPr>
            <p:ph type="sldNum" sz="quarter" idx="5"/>
          </p:nvPr>
        </p:nvSpPr>
        <p:spPr/>
        <p:txBody>
          <a:bodyPr/>
          <a:lstStyle/>
          <a:p>
            <a:fld id="{70BD15E9-82F0-9743-93C0-DD9D8C59DE23}" type="slidenum">
              <a:rPr lang="en-US" smtClean="0"/>
              <a:t>2</a:t>
            </a:fld>
            <a:endParaRPr lang="en-US"/>
          </a:p>
        </p:txBody>
      </p:sp>
    </p:spTree>
    <p:extLst>
      <p:ext uri="{BB962C8B-B14F-4D97-AF65-F5344CB8AC3E}">
        <p14:creationId xmlns:p14="http://schemas.microsoft.com/office/powerpoint/2010/main" val="43066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computer graphics a common task is to take a picture, like on the left, and ”smooth” it to look like the thing on the right. For a 3D sphere, these calculations would typically involve calculating the color based on the angle that light hits a pixel. If a picture is 1000 x 1000 pixels, then that’s 1000^2 = 1 million operations that must be done. If the image is animated in real time, you might do these operations, say, 60 times a second, requiring over 60 million operations a second just to make the ball look smooth.</a:t>
            </a:r>
          </a:p>
        </p:txBody>
      </p:sp>
      <p:sp>
        <p:nvSpPr>
          <p:cNvPr id="4" name="Slide Number Placeholder 3"/>
          <p:cNvSpPr>
            <a:spLocks noGrp="1"/>
          </p:cNvSpPr>
          <p:nvPr>
            <p:ph type="sldNum" sz="quarter" idx="5"/>
          </p:nvPr>
        </p:nvSpPr>
        <p:spPr/>
        <p:txBody>
          <a:bodyPr/>
          <a:lstStyle/>
          <a:p>
            <a:fld id="{70BD15E9-82F0-9743-93C0-DD9D8C59DE23}" type="slidenum">
              <a:rPr lang="en-US" smtClean="0"/>
              <a:t>3</a:t>
            </a:fld>
            <a:endParaRPr lang="en-US"/>
          </a:p>
        </p:txBody>
      </p:sp>
    </p:spTree>
    <p:extLst>
      <p:ext uri="{BB962C8B-B14F-4D97-AF65-F5344CB8AC3E}">
        <p14:creationId xmlns:p14="http://schemas.microsoft.com/office/powerpoint/2010/main" val="2811662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a program written in a shader language. This program is run at the same time one very pixel of an image, and results in the image shown. Despite being limited as compared to a regular CPU, there are tricks to make all kinds of images and animations.</a:t>
            </a:r>
          </a:p>
        </p:txBody>
      </p:sp>
      <p:sp>
        <p:nvSpPr>
          <p:cNvPr id="4" name="Slide Number Placeholder 3"/>
          <p:cNvSpPr>
            <a:spLocks noGrp="1"/>
          </p:cNvSpPr>
          <p:nvPr>
            <p:ph type="sldNum" sz="quarter" idx="5"/>
          </p:nvPr>
        </p:nvSpPr>
        <p:spPr/>
        <p:txBody>
          <a:bodyPr/>
          <a:lstStyle/>
          <a:p>
            <a:fld id="{70BD15E9-82F0-9743-93C0-DD9D8C59DE23}" type="slidenum">
              <a:rPr lang="en-US" smtClean="0"/>
              <a:t>6</a:t>
            </a:fld>
            <a:endParaRPr lang="en-US"/>
          </a:p>
        </p:txBody>
      </p:sp>
    </p:spTree>
    <p:extLst>
      <p:ext uri="{BB962C8B-B14F-4D97-AF65-F5344CB8AC3E}">
        <p14:creationId xmlns:p14="http://schemas.microsoft.com/office/powerpoint/2010/main" val="3445058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6B09-53A9-3F34-F0A7-9AFCC65DBB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EFF644-2798-7B0D-DA99-3E93BAAFE1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A7A11A-FE9B-CC76-C1A4-3192C75C935D}"/>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5" name="Footer Placeholder 4">
            <a:extLst>
              <a:ext uri="{FF2B5EF4-FFF2-40B4-BE49-F238E27FC236}">
                <a16:creationId xmlns:a16="http://schemas.microsoft.com/office/drawing/2014/main" id="{670203B7-93C7-C3F5-A467-06D5553D77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A52FB3-8786-4A11-74AC-E15C53385EE6}"/>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1422935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7E1EC-C505-1F93-05D1-1231049F41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FBF54-9C63-9CD7-1E65-1381A8E60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97885F-2A03-3DE2-9A4E-4C89F64FF0D9}"/>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5" name="Footer Placeholder 4">
            <a:extLst>
              <a:ext uri="{FF2B5EF4-FFF2-40B4-BE49-F238E27FC236}">
                <a16:creationId xmlns:a16="http://schemas.microsoft.com/office/drawing/2014/main" id="{FC354F9A-C21D-62A8-3465-95080E8BA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6FACB3-B02B-FBFF-81F3-751EE1FBADC2}"/>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2654294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001F9-9088-B103-5E7C-4FE16C3556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7AF0A8-F11D-DBDB-F91D-182A5C5E88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04B094-FECE-4077-7AFE-458084E2DFC9}"/>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5" name="Footer Placeholder 4">
            <a:extLst>
              <a:ext uri="{FF2B5EF4-FFF2-40B4-BE49-F238E27FC236}">
                <a16:creationId xmlns:a16="http://schemas.microsoft.com/office/drawing/2014/main" id="{1AA7E735-2320-DE26-6CC2-3032E61F04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BB41B1-59CC-5282-9927-D7FF21A1DF4A}"/>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421351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3A87-0877-A334-D513-620B71B8FE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955487-2A22-443B-046A-58EB1F96A3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87694B-99B0-A50B-F42F-B74F20D7C1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51EAC4-1877-8417-E3C0-5B81DDCBD500}"/>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6" name="Footer Placeholder 5">
            <a:extLst>
              <a:ext uri="{FF2B5EF4-FFF2-40B4-BE49-F238E27FC236}">
                <a16:creationId xmlns:a16="http://schemas.microsoft.com/office/drawing/2014/main" id="{28ADAD0C-B9BC-5F73-434F-24A71B7F12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C8E073-2DC6-6B7F-1286-EFF8ADE4B6D6}"/>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1120870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E88F2-5600-CDAB-4080-99964404DA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7D9165-846C-7CFD-96B8-CD5C91976A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2CC817-6F90-8B9E-7309-8365F7AC53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CFD3E1-9920-DB59-40BC-D81E06EB31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391358-4F9D-8D4C-0307-30300F8392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48ABD9-A05B-CE2F-E30E-BD90AAAA909C}"/>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8" name="Footer Placeholder 7">
            <a:extLst>
              <a:ext uri="{FF2B5EF4-FFF2-40B4-BE49-F238E27FC236}">
                <a16:creationId xmlns:a16="http://schemas.microsoft.com/office/drawing/2014/main" id="{7A5EC23E-DB6E-EDDD-72CB-179B4468DC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8050BA-4188-E781-A988-ADCCBFBC5C35}"/>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1174635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1768A-3CAD-FB93-C1B2-28B0703040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843C09-DF15-24E3-B6B3-279991B33DC6}"/>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4" name="Footer Placeholder 3">
            <a:extLst>
              <a:ext uri="{FF2B5EF4-FFF2-40B4-BE49-F238E27FC236}">
                <a16:creationId xmlns:a16="http://schemas.microsoft.com/office/drawing/2014/main" id="{721956F0-F38D-B13C-A6BA-6F9DBEA6C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3F44F4-F549-3345-CB14-716CB6FF9AEC}"/>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651962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C3DC4E-095F-E3E9-2E01-77138A5C535B}"/>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3" name="Footer Placeholder 2">
            <a:extLst>
              <a:ext uri="{FF2B5EF4-FFF2-40B4-BE49-F238E27FC236}">
                <a16:creationId xmlns:a16="http://schemas.microsoft.com/office/drawing/2014/main" id="{6A1CFE99-38C0-E965-0411-C8C490C976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AA0718-4278-5E7D-1533-D2321D9C967D}"/>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997027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35EE6-56E8-8B50-C97C-7C6040A9D0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2858D1-F1CC-132D-3CF9-5C50F4F872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9FC41E-A03E-2B3C-8124-CFB96F1EBA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7675C4-5BFC-D4ED-96F8-998FEC65E312}"/>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6" name="Footer Placeholder 5">
            <a:extLst>
              <a:ext uri="{FF2B5EF4-FFF2-40B4-BE49-F238E27FC236}">
                <a16:creationId xmlns:a16="http://schemas.microsoft.com/office/drawing/2014/main" id="{577D1EC2-7C9C-07AE-9A83-B0F4388877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8F52B9-E097-BBEF-BCE8-C100025C5C7F}"/>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2226280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801B-7E3A-82C1-8703-F50D70E57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6AE0D5-46DD-2F77-5566-701AEFAEFA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94620E-F7C4-6DBC-4707-B9EC765F3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FD606B-F082-539D-7FB1-20FBB2734125}"/>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6" name="Footer Placeholder 5">
            <a:extLst>
              <a:ext uri="{FF2B5EF4-FFF2-40B4-BE49-F238E27FC236}">
                <a16:creationId xmlns:a16="http://schemas.microsoft.com/office/drawing/2014/main" id="{1A24F67E-C70F-1C06-E570-44FF9A6D5D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640382-EBE6-9561-74A9-7D487B022243}"/>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3879460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EE7BD-FCFD-A092-9FFE-6D7DEB7B60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CE9A06-9CCB-3BCC-7B6A-C7E7B34143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F90403-34B1-7AA9-DE08-540533E63D62}"/>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5" name="Footer Placeholder 4">
            <a:extLst>
              <a:ext uri="{FF2B5EF4-FFF2-40B4-BE49-F238E27FC236}">
                <a16:creationId xmlns:a16="http://schemas.microsoft.com/office/drawing/2014/main" id="{EA02E5BE-950F-8A49-BD40-3F79EC2CF9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C90F40-57E4-EBDA-9CAC-5C2F812162A3}"/>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2086070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FC32DF-BD21-E64C-3F78-FACD619785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D2197-351E-8ADE-CF61-C7B1110725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A1765A-893D-CCA3-3432-F2E4D756D425}"/>
              </a:ext>
            </a:extLst>
          </p:cNvPr>
          <p:cNvSpPr>
            <a:spLocks noGrp="1"/>
          </p:cNvSpPr>
          <p:nvPr>
            <p:ph type="dt" sz="half" idx="10"/>
          </p:nvPr>
        </p:nvSpPr>
        <p:spPr/>
        <p:txBody>
          <a:bodyPr/>
          <a:lstStyle/>
          <a:p>
            <a:fld id="{74BE2683-176A-8347-B828-AB3139E6C601}" type="datetimeFigureOut">
              <a:rPr lang="en-US" smtClean="0"/>
              <a:t>12/2/25</a:t>
            </a:fld>
            <a:endParaRPr lang="en-US"/>
          </a:p>
        </p:txBody>
      </p:sp>
      <p:sp>
        <p:nvSpPr>
          <p:cNvPr id="5" name="Footer Placeholder 4">
            <a:extLst>
              <a:ext uri="{FF2B5EF4-FFF2-40B4-BE49-F238E27FC236}">
                <a16:creationId xmlns:a16="http://schemas.microsoft.com/office/drawing/2014/main" id="{B920FE84-32FC-3B39-D38E-30CBAD76D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304CF-4CDE-ABD7-5AE8-4AC91C551941}"/>
              </a:ext>
            </a:extLst>
          </p:cNvPr>
          <p:cNvSpPr>
            <a:spLocks noGrp="1"/>
          </p:cNvSpPr>
          <p:nvPr>
            <p:ph type="sldNum" sz="quarter" idx="12"/>
          </p:nvPr>
        </p:nvSpPr>
        <p:spPr/>
        <p:txBody>
          <a:bodyPr/>
          <a:lstStyle/>
          <a:p>
            <a:fld id="{B6646893-2A20-374C-902B-932826F14143}" type="slidenum">
              <a:rPr lang="en-US" smtClean="0"/>
              <a:t>‹#›</a:t>
            </a:fld>
            <a:endParaRPr lang="en-US"/>
          </a:p>
        </p:txBody>
      </p:sp>
    </p:spTree>
    <p:extLst>
      <p:ext uri="{BB962C8B-B14F-4D97-AF65-F5344CB8AC3E}">
        <p14:creationId xmlns:p14="http://schemas.microsoft.com/office/powerpoint/2010/main" val="2305717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4F66EE-6E2D-32E8-7332-AE3ABC5A4A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3983F5-49FD-7F4C-484B-A3B816554B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5781B-065A-70CC-5316-C25465585F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BE2683-176A-8347-B828-AB3139E6C601}" type="datetimeFigureOut">
              <a:rPr lang="en-US" smtClean="0"/>
              <a:t>12/2/25</a:t>
            </a:fld>
            <a:endParaRPr lang="en-US"/>
          </a:p>
        </p:txBody>
      </p:sp>
      <p:sp>
        <p:nvSpPr>
          <p:cNvPr id="5" name="Footer Placeholder 4">
            <a:extLst>
              <a:ext uri="{FF2B5EF4-FFF2-40B4-BE49-F238E27FC236}">
                <a16:creationId xmlns:a16="http://schemas.microsoft.com/office/drawing/2014/main" id="{06465033-92E1-D00F-4436-150257400D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8E348D-7883-EDE4-1AF3-A037A04BF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646893-2A20-374C-902B-932826F14143}" type="slidenum">
              <a:rPr lang="en-US" smtClean="0"/>
              <a:t>‹#›</a:t>
            </a:fld>
            <a:endParaRPr lang="en-US"/>
          </a:p>
        </p:txBody>
      </p:sp>
    </p:spTree>
    <p:extLst>
      <p:ext uri="{BB962C8B-B14F-4D97-AF65-F5344CB8AC3E}">
        <p14:creationId xmlns:p14="http://schemas.microsoft.com/office/powerpoint/2010/main" val="3370898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77FE4-E4BB-C4EE-C3B2-68E122776FE1}"/>
              </a:ext>
            </a:extLst>
          </p:cNvPr>
          <p:cNvSpPr>
            <a:spLocks noGrp="1"/>
          </p:cNvSpPr>
          <p:nvPr>
            <p:ph type="ctrTitle"/>
          </p:nvPr>
        </p:nvSpPr>
        <p:spPr/>
        <p:txBody>
          <a:bodyPr/>
          <a:lstStyle/>
          <a:p>
            <a:r>
              <a:rPr lang="en-US" dirty="0"/>
              <a:t>Shaders</a:t>
            </a:r>
          </a:p>
        </p:txBody>
      </p:sp>
      <p:sp>
        <p:nvSpPr>
          <p:cNvPr id="3" name="Subtitle 2">
            <a:extLst>
              <a:ext uri="{FF2B5EF4-FFF2-40B4-BE49-F238E27FC236}">
                <a16:creationId xmlns:a16="http://schemas.microsoft.com/office/drawing/2014/main" id="{130F3AFC-3EA8-9529-3538-029FD773F82F}"/>
              </a:ext>
            </a:extLst>
          </p:cNvPr>
          <p:cNvSpPr>
            <a:spLocks noGrp="1"/>
          </p:cNvSpPr>
          <p:nvPr>
            <p:ph type="subTitle" idx="1"/>
          </p:nvPr>
        </p:nvSpPr>
        <p:spPr/>
        <p:txBody>
          <a:bodyPr/>
          <a:lstStyle/>
          <a:p>
            <a:r>
              <a:rPr lang="en-US" dirty="0"/>
              <a:t>An Introduction</a:t>
            </a:r>
          </a:p>
        </p:txBody>
      </p:sp>
    </p:spTree>
    <p:extLst>
      <p:ext uri="{BB962C8B-B14F-4D97-AF65-F5344CB8AC3E}">
        <p14:creationId xmlns:p14="http://schemas.microsoft.com/office/powerpoint/2010/main" val="27877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0133B-13A4-F8C6-2435-FBE5662EED29}"/>
            </a:ext>
          </a:extLst>
        </p:cNvPr>
        <p:cNvGrpSpPr/>
        <p:nvPr/>
      </p:nvGrpSpPr>
      <p:grpSpPr>
        <a:xfrm>
          <a:off x="0" y="0"/>
          <a:ext cx="0" cy="0"/>
          <a:chOff x="0" y="0"/>
          <a:chExt cx="0" cy="0"/>
        </a:xfrm>
      </p:grpSpPr>
      <p:pic>
        <p:nvPicPr>
          <p:cNvPr id="3074" name="Picture 2" descr="undefined">
            <a:extLst>
              <a:ext uri="{FF2B5EF4-FFF2-40B4-BE49-F238E27FC236}">
                <a16:creationId xmlns:a16="http://schemas.microsoft.com/office/drawing/2014/main" id="{261D8EF2-D8FC-B754-62AA-49894EC63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72" y="783771"/>
            <a:ext cx="11843656" cy="4441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237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defined">
            <a:extLst>
              <a:ext uri="{FF2B5EF4-FFF2-40B4-BE49-F238E27FC236}">
                <a16:creationId xmlns:a16="http://schemas.microsoft.com/office/drawing/2014/main" id="{AFD8503F-34BE-8CC0-6737-CD639A7E0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00" y="915224"/>
            <a:ext cx="11929200" cy="451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90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D2C50-6B54-C6CD-B20B-ADF888F52FC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3665D1-6D0D-2AC6-72B5-BBF8864A6EE3}"/>
              </a:ext>
            </a:extLst>
          </p:cNvPr>
          <p:cNvSpPr>
            <a:spLocks noGrp="1"/>
          </p:cNvSpPr>
          <p:nvPr>
            <p:ph type="title"/>
          </p:nvPr>
        </p:nvSpPr>
        <p:spPr/>
        <p:txBody>
          <a:bodyPr/>
          <a:lstStyle/>
          <a:p>
            <a:r>
              <a:rPr lang="en-US" dirty="0"/>
              <a:t>CPUs Compared to GPUs</a:t>
            </a:r>
          </a:p>
        </p:txBody>
      </p:sp>
      <p:sp>
        <p:nvSpPr>
          <p:cNvPr id="5" name="Text Placeholder 4">
            <a:extLst>
              <a:ext uri="{FF2B5EF4-FFF2-40B4-BE49-F238E27FC236}">
                <a16:creationId xmlns:a16="http://schemas.microsoft.com/office/drawing/2014/main" id="{E498036E-1464-F79C-0EA5-1A39D6991ACD}"/>
              </a:ext>
            </a:extLst>
          </p:cNvPr>
          <p:cNvSpPr>
            <a:spLocks noGrp="1"/>
          </p:cNvSpPr>
          <p:nvPr>
            <p:ph type="body" idx="1"/>
          </p:nvPr>
        </p:nvSpPr>
        <p:spPr/>
        <p:txBody>
          <a:bodyPr/>
          <a:lstStyle/>
          <a:p>
            <a:r>
              <a:rPr lang="en-US" dirty="0"/>
              <a:t>Main CPU</a:t>
            </a:r>
          </a:p>
        </p:txBody>
      </p:sp>
      <p:sp>
        <p:nvSpPr>
          <p:cNvPr id="6" name="Content Placeholder 5">
            <a:extLst>
              <a:ext uri="{FF2B5EF4-FFF2-40B4-BE49-F238E27FC236}">
                <a16:creationId xmlns:a16="http://schemas.microsoft.com/office/drawing/2014/main" id="{9E897918-1621-427B-9A72-CAB86FD7FFC1}"/>
              </a:ext>
            </a:extLst>
          </p:cNvPr>
          <p:cNvSpPr>
            <a:spLocks noGrp="1"/>
          </p:cNvSpPr>
          <p:nvPr>
            <p:ph sz="half" idx="2"/>
          </p:nvPr>
        </p:nvSpPr>
        <p:spPr/>
        <p:txBody>
          <a:bodyPr/>
          <a:lstStyle/>
          <a:p>
            <a:r>
              <a:rPr lang="en-US" dirty="0"/>
              <a:t>Can do everything</a:t>
            </a:r>
          </a:p>
          <a:p>
            <a:r>
              <a:rPr lang="en-US" dirty="0"/>
              <a:t>Expensive</a:t>
            </a:r>
          </a:p>
          <a:p>
            <a:r>
              <a:rPr lang="en-US" dirty="0"/>
              <a:t>~10 – 30 “cores” that can run in parallel</a:t>
            </a:r>
          </a:p>
          <a:p>
            <a:r>
              <a:rPr lang="en-US" dirty="0"/>
              <a:t>Can do graphics, but too slow for real time (e.g. for real-time effects in 3D games)</a:t>
            </a:r>
          </a:p>
        </p:txBody>
      </p:sp>
      <p:pic>
        <p:nvPicPr>
          <p:cNvPr id="9" name="Picture 2" descr="The architecture of M3, M3 Pro, and M3 Max.">
            <a:extLst>
              <a:ext uri="{FF2B5EF4-FFF2-40B4-BE49-F238E27FC236}">
                <a16:creationId xmlns:a16="http://schemas.microsoft.com/office/drawing/2014/main" id="{3E8ECC26-5D76-C133-3B1D-22A48EC7FF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201" t="11584" r="3474" b="9727"/>
          <a:stretch/>
        </p:blipFill>
        <p:spPr bwMode="auto">
          <a:xfrm>
            <a:off x="7000343" y="1098859"/>
            <a:ext cx="4916385" cy="5394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7873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FE416-2B9D-EAE5-29FE-80DBC6B59F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50FF4C-1E35-FD3C-C724-1533D88919A0}"/>
              </a:ext>
            </a:extLst>
          </p:cNvPr>
          <p:cNvSpPr>
            <a:spLocks noGrp="1"/>
          </p:cNvSpPr>
          <p:nvPr>
            <p:ph type="title"/>
          </p:nvPr>
        </p:nvSpPr>
        <p:spPr/>
        <p:txBody>
          <a:bodyPr/>
          <a:lstStyle/>
          <a:p>
            <a:r>
              <a:rPr lang="en-US" dirty="0"/>
              <a:t>CPUs Compared to GPUs</a:t>
            </a:r>
          </a:p>
        </p:txBody>
      </p:sp>
      <p:sp>
        <p:nvSpPr>
          <p:cNvPr id="5" name="Text Placeholder 4">
            <a:extLst>
              <a:ext uri="{FF2B5EF4-FFF2-40B4-BE49-F238E27FC236}">
                <a16:creationId xmlns:a16="http://schemas.microsoft.com/office/drawing/2014/main" id="{3712BF52-7D79-F21B-BCF1-B9DABA184514}"/>
              </a:ext>
            </a:extLst>
          </p:cNvPr>
          <p:cNvSpPr>
            <a:spLocks noGrp="1"/>
          </p:cNvSpPr>
          <p:nvPr>
            <p:ph type="body" idx="1"/>
          </p:nvPr>
        </p:nvSpPr>
        <p:spPr/>
        <p:txBody>
          <a:bodyPr/>
          <a:lstStyle/>
          <a:p>
            <a:r>
              <a:rPr lang="en-US" dirty="0"/>
              <a:t>Graphics CPU</a:t>
            </a:r>
          </a:p>
        </p:txBody>
      </p:sp>
      <p:sp>
        <p:nvSpPr>
          <p:cNvPr id="6" name="Content Placeholder 5">
            <a:extLst>
              <a:ext uri="{FF2B5EF4-FFF2-40B4-BE49-F238E27FC236}">
                <a16:creationId xmlns:a16="http://schemas.microsoft.com/office/drawing/2014/main" id="{598F9C9B-232A-299D-5121-0C35CA2C74CA}"/>
              </a:ext>
            </a:extLst>
          </p:cNvPr>
          <p:cNvSpPr>
            <a:spLocks noGrp="1"/>
          </p:cNvSpPr>
          <p:nvPr>
            <p:ph sz="half" idx="2"/>
          </p:nvPr>
        </p:nvSpPr>
        <p:spPr/>
        <p:txBody>
          <a:bodyPr>
            <a:normAutofit fontScale="92500" lnSpcReduction="20000"/>
          </a:bodyPr>
          <a:lstStyle/>
          <a:p>
            <a:r>
              <a:rPr lang="en-US" dirty="0"/>
              <a:t>Can only do operations specific to graphics, e.g. basic math</a:t>
            </a:r>
          </a:p>
          <a:p>
            <a:pPr lvl="1"/>
            <a:r>
              <a:rPr lang="en-US" dirty="0">
                <a:solidFill>
                  <a:srgbClr val="00B050"/>
                </a:solidFill>
              </a:rPr>
              <a:t>Programmed using special languages limited to these operations</a:t>
            </a:r>
          </a:p>
          <a:p>
            <a:r>
              <a:rPr lang="en-US" dirty="0"/>
              <a:t>1000s of “little” CPUs, or “cores”, that run in parallel</a:t>
            </a:r>
          </a:p>
          <a:p>
            <a:pPr lvl="1"/>
            <a:r>
              <a:rPr lang="en-US" dirty="0"/>
              <a:t>RTX 4090 has over 16,000 cores</a:t>
            </a:r>
          </a:p>
          <a:p>
            <a:r>
              <a:rPr lang="en-US" dirty="0"/>
              <a:t>Fast enough to do real time graphics: 1 core per pixel</a:t>
            </a:r>
          </a:p>
          <a:p>
            <a:r>
              <a:rPr lang="en-US" dirty="0"/>
              <a:t>Also used in AI</a:t>
            </a:r>
          </a:p>
          <a:p>
            <a:endParaRPr lang="en-US" dirty="0"/>
          </a:p>
        </p:txBody>
      </p:sp>
      <p:pic>
        <p:nvPicPr>
          <p:cNvPr id="6146" name="Picture 2">
            <a:extLst>
              <a:ext uri="{FF2B5EF4-FFF2-40B4-BE49-F238E27FC236}">
                <a16:creationId xmlns:a16="http://schemas.microsoft.com/office/drawing/2014/main" id="{6BB595C4-A1B3-79AF-2C9A-5764240C24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389" t="11035" r="16331" b="35238"/>
          <a:stretch/>
        </p:blipFill>
        <p:spPr bwMode="auto">
          <a:xfrm rot="5400000">
            <a:off x="6320919" y="1960868"/>
            <a:ext cx="6633916" cy="2936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718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8909EC-EDAD-54F1-809D-5EA495E163CD}"/>
              </a:ext>
            </a:extLst>
          </p:cNvPr>
          <p:cNvPicPr>
            <a:picLocks noChangeAspect="1"/>
          </p:cNvPicPr>
          <p:nvPr/>
        </p:nvPicPr>
        <p:blipFill>
          <a:blip r:embed="rId3"/>
          <a:srcRect l="27873" t="22846" r="47925" b="57090"/>
          <a:stretch/>
        </p:blipFill>
        <p:spPr>
          <a:xfrm rot="5400000">
            <a:off x="6973210" y="1574535"/>
            <a:ext cx="6792254" cy="3645327"/>
          </a:xfrm>
          <a:prstGeom prst="rect">
            <a:avLst/>
          </a:prstGeom>
        </p:spPr>
      </p:pic>
      <p:pic>
        <p:nvPicPr>
          <p:cNvPr id="11" name="Picture 10">
            <a:extLst>
              <a:ext uri="{FF2B5EF4-FFF2-40B4-BE49-F238E27FC236}">
                <a16:creationId xmlns:a16="http://schemas.microsoft.com/office/drawing/2014/main" id="{5916D318-0B7D-F139-BC30-433D0CF4D5C9}"/>
              </a:ext>
            </a:extLst>
          </p:cNvPr>
          <p:cNvPicPr>
            <a:picLocks noChangeAspect="1"/>
          </p:cNvPicPr>
          <p:nvPr/>
        </p:nvPicPr>
        <p:blipFill>
          <a:blip r:embed="rId4"/>
          <a:stretch>
            <a:fillRect/>
          </a:stretch>
        </p:blipFill>
        <p:spPr>
          <a:xfrm>
            <a:off x="170935" y="289484"/>
            <a:ext cx="7772400" cy="6215428"/>
          </a:xfrm>
          <a:prstGeom prst="rect">
            <a:avLst/>
          </a:prstGeom>
        </p:spPr>
      </p:pic>
    </p:spTree>
    <p:extLst>
      <p:ext uri="{BB962C8B-B14F-4D97-AF65-F5344CB8AC3E}">
        <p14:creationId xmlns:p14="http://schemas.microsoft.com/office/powerpoint/2010/main" val="2148397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TotalTime>
  <Words>369</Words>
  <Application>Microsoft Macintosh PowerPoint</Application>
  <PresentationFormat>Widescreen</PresentationFormat>
  <Paragraphs>22</Paragraphs>
  <Slides>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Shaders</vt:lpstr>
      <vt:lpstr>PowerPoint Presentation</vt:lpstr>
      <vt:lpstr>PowerPoint Presentation</vt:lpstr>
      <vt:lpstr>CPUs Compared to GPUs</vt:lpstr>
      <vt:lpstr>CPUs Compared to GPUs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Toby Donaldson</dc:creator>
  <cp:lastModifiedBy>Toby Donaldson</cp:lastModifiedBy>
  <cp:revision>1</cp:revision>
  <dcterms:created xsi:type="dcterms:W3CDTF">2025-02-21T19:24:30Z</dcterms:created>
  <dcterms:modified xsi:type="dcterms:W3CDTF">2025-12-03T04:41:48Z</dcterms:modified>
</cp:coreProperties>
</file>